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463040"/>
            <a:ext cx="1463040" cy="1463040"/>
          </a:xfrm>
          <a:prstGeom prst="ellipse">
            <a:avLst/>
          </a:prstGeom>
          <a:noFill/>
          <a:ln w="28575">
            <a:solidFill>
              <a:srgbClr val="007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63040" y="1463040"/>
            <a:ext cx="1463040" cy="1463040"/>
          </a:xfrm>
          <a:prstGeom prst="ellipse">
            <a:avLst/>
          </a:prstGeom>
          <a:noFill/>
          <a:ln w="28575">
            <a:solidFill>
              <a:srgbClr val="B879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4202E"/>
                </a:solidFill>
                <a:latin typeface="Consolas"/>
              </a:rPr>
              <a:t>Two-Brain 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B6B80"/>
                </a:solidFill>
                <a:latin typeface="Segoe UI"/>
              </a:rPr>
              <a:t>One assistant, two brains — a fast one on your device, a deep one in the cloud. The router decides which one earns the request, and what's safe to send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7CC0"/>
                </a:solidFill>
                <a:latin typeface="Consolas"/>
              </a:rPr>
              <a:t>—  </a:t>
            </a:r>
            <a:r>
              <a:rPr b="1" sz="1300">
                <a:solidFill>
                  <a:srgbClr val="14202E"/>
                </a:solidFill>
                <a:latin typeface="Segoe UI"/>
              </a:rPr>
              <a:t>Three tracks, one system: </a:t>
            </a:r>
            <a:r>
              <a:rPr sz="1300">
                <a:solidFill>
                  <a:srgbClr val="14202E"/>
                </a:solidFill>
                <a:latin typeface="Segoe UI"/>
              </a:rPr>
              <a:t>the orchestrator (routing + privacy), the phone brain (on-device NPU/GPU), and the eval + demo UI.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7CC0"/>
                </a:solidFill>
                <a:latin typeface="Consolas"/>
              </a:rPr>
              <a:t>—  </a:t>
            </a:r>
            <a:r>
              <a:rPr b="1" sz="1300">
                <a:solidFill>
                  <a:srgbClr val="14202E"/>
                </a:solidFill>
                <a:latin typeface="Segoe UI"/>
              </a:rPr>
              <a:t>Nothing is fabricated: </a:t>
            </a:r>
            <a:r>
              <a:rPr sz="1300">
                <a:solidFill>
                  <a:srgbClr val="14202E"/>
                </a:solidFill>
                <a:latin typeface="Segoe UI"/>
              </a:rPr>
              <a:t>every real number is measured and logged; every mock states which real attempt preceded it and why.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80"/>
                </a:solidFill>
                <a:latin typeface="Consolas"/>
              </a:rPr>
              <a:t>TWO-BRAIN LLM  ·  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B6B80"/>
                </a:solidFill>
                <a:latin typeface="Consolas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4202E"/>
                </a:solidFill>
                <a:latin typeface="Consolas"/>
              </a:rPr>
              <a:t>Don't send everything to the cloud.
Don't keep everything on-device.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B6B80"/>
                </a:solidFill>
                <a:latin typeface="Segoe UI"/>
              </a:rPr>
              <a:t>A local fast brain answers what it can. Only hard, or genuinely cloud-shaped, queries escalate — and nothing unmasked ever leaves the device.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6324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CC0"/>
                </a:solidFill>
                <a:latin typeface="Consolas"/>
              </a:rPr>
              <a:t>MOBILE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5B6B80"/>
                </a:solidFill>
                <a:latin typeface="Segoe UI"/>
              </a:rPr>
              <a:t>Snapdragon 8 Elite · Galaxy S25 Ultra
Llama-3.2-3B-Instruct, on-device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306324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CC0"/>
                </a:solidFill>
                <a:latin typeface="Consolas"/>
              </a:rPr>
              <a:t>AI PC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5B6B80"/>
                </a:solidFill>
                <a:latin typeface="Segoe UI"/>
              </a:rPr>
              <a:t>Snapdragon X Elite · Hexagon NPU / Adreno GPU
Phi-3.5-mini · Qwen3-VL, on-device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306324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B8790A"/>
                </a:solidFill>
                <a:latin typeface="Consolas"/>
              </a:rPr>
              <a:t>CLOUD AI 100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5B6B80"/>
                </a:solidFill>
                <a:latin typeface="Segoe UI"/>
              </a:rPr>
              <a:t>Escalation only — hard reasoning,
large-context, multi-step queries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526280"/>
            <a:ext cx="11064240" cy="0"/>
          </a:xfrm>
          <a:prstGeom prst="line">
            <a:avLst/>
          </a:prstGeom>
          <a:ln w="12700">
            <a:solidFill>
              <a:srgbClr val="D8DE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4251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80"/>
                </a:solidFill>
                <a:latin typeface="Consolas"/>
              </a:rPr>
              <a:t>TRUST BOUNDARY — ONLY MASKED TEXT CROSSES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920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7CC0"/>
                </a:solidFill>
                <a:latin typeface="Consolas"/>
              </a:rPr>
              <a:t>—  </a:t>
            </a:r>
            <a:r>
              <a:rPr b="1" sz="1300">
                <a:solidFill>
                  <a:srgbClr val="14202E"/>
                </a:solidFill>
                <a:latin typeface="Segoe UI"/>
              </a:rPr>
              <a:t>Mask first. </a:t>
            </a:r>
            <a:r>
              <a:rPr sz="1300">
                <a:solidFill>
                  <a:srgbClr val="14202E"/>
                </a:solidFill>
                <a:latin typeface="Segoe UI"/>
              </a:rPr>
              <a:t>PII is detected and masked before the router even scores the query's difficulty.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7CC0"/>
                </a:solidFill>
                <a:latin typeface="Consolas"/>
              </a:rPr>
              <a:t>—  </a:t>
            </a:r>
            <a:r>
              <a:rPr b="1" sz="1300">
                <a:solidFill>
                  <a:srgbClr val="14202E"/>
                </a:solidFill>
                <a:latin typeface="Segoe UI"/>
              </a:rPr>
              <a:t>The guarantee is a failing test, not a policy doc — </a:t>
            </a:r>
            <a:r>
              <a:rPr sz="1300">
                <a:solidFill>
                  <a:srgbClr val="14202E"/>
                </a:solidFill>
                <a:latin typeface="Segoe UI"/>
              </a:rPr>
              <a:t>test_escalated_pii_never_reaches_cloud_unmasked runs on every request.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7CC0"/>
                </a:solidFill>
                <a:latin typeface="Consolas"/>
              </a:rPr>
              <a:t>—  </a:t>
            </a:r>
            <a:r>
              <a:rPr b="1" sz="1300">
                <a:solidFill>
                  <a:srgbClr val="14202E"/>
                </a:solidFill>
                <a:latin typeface="Segoe UI"/>
              </a:rPr>
              <a:t>Rehydrate last, on-device — </a:t>
            </a:r>
            <a:r>
              <a:rPr sz="1300">
                <a:solidFill>
                  <a:srgbClr val="14202E"/>
                </a:solidFill>
                <a:latin typeface="Segoe UI"/>
              </a:rPr>
              <a:t>the cloud brain only ever sees [PII_EMAIL_1], never the real address.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80"/>
                </a:solidFill>
                <a:latin typeface="Consolas"/>
              </a:rPr>
              <a:t>TWO-BRAIN LLM  ·  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B6B80"/>
                </a:solidFill>
                <a:latin typeface="Consolas"/>
              </a:rP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202E"/>
                </a:solidFill>
                <a:latin typeface="Consolas"/>
              </a:rPr>
              <a:t>Every query has a home.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B6B80"/>
                </a:solidFill>
                <a:latin typeface="Segoe UI"/>
              </a:rPr>
              <a:t>Four route families, each hitting a different tier for a different reason.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2670048" cy="3566160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200"/>
              </a:spcAft>
            </a:pPr>
            <a:r>
              <a:rPr sz="400" b="0">
                <a:solidFill>
                  <a:srgbClr val="5B6B80"/>
                </a:solidFill>
                <a:latin typeface="Segoe UI"/>
              </a:rPr>
              <a:t> </a:t>
            </a:r>
          </a:p>
          <a:p>
            <a:pPr>
              <a:spcAft>
                <a:spcPts val="200"/>
              </a:spcAft>
            </a:pPr>
            <a:r>
              <a:rPr sz="400" b="0">
                <a:solidFill>
                  <a:srgbClr val="5B6B80"/>
                </a:solidFill>
                <a:latin typeface="Segoe UI"/>
              </a:rPr>
              <a:t> 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4202E"/>
                </a:solidFill>
                <a:latin typeface="Segoe UI"/>
              </a:rPr>
              <a:t>Text-only, instant</a:t>
            </a:r>
          </a:p>
          <a:p>
            <a:pPr>
              <a:spcAft>
                <a:spcPts val="1000"/>
              </a:spcAft>
            </a:pPr>
            <a:r>
              <a:rPr sz="1050" b="0">
                <a:solidFill>
                  <a:srgbClr val="14202E"/>
                </a:solidFill>
                <a:latin typeface="Segoe UI"/>
              </a:rPr>
              <a:t>"What are the biggest mistakes
first-time managers make?"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5B6B80"/>
                </a:solidFill>
                <a:latin typeface="Consolas"/>
              </a:rPr>
              <a:t>-&gt; answered on-device, no 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12264"/>
            <a:ext cx="731519" cy="274320"/>
          </a:xfrm>
          <a:prstGeom prst="roundRect">
            <a:avLst>
              <a:gd name="adj" fmla="val 50000"/>
            </a:avLst>
          </a:prstGeom>
          <a:solidFill>
            <a:srgbClr val="E3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900" b="1">
                <a:solidFill>
                  <a:srgbClr val="007CC0"/>
                </a:solidFill>
                <a:latin typeface="Consolas"/>
              </a:rPr>
              <a:t>PHONE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1965960"/>
            <a:ext cx="2670048" cy="3566160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200"/>
              </a:spcAft>
            </a:pPr>
            <a:r>
              <a:rPr sz="400" b="0">
                <a:solidFill>
                  <a:srgbClr val="5B6B80"/>
                </a:solidFill>
                <a:latin typeface="Segoe UI"/>
              </a:rPr>
              <a:t> </a:t>
            </a:r>
          </a:p>
          <a:p>
            <a:pPr>
              <a:spcAft>
                <a:spcPts val="200"/>
              </a:spcAft>
            </a:pPr>
            <a:r>
              <a:rPr sz="400" b="0">
                <a:solidFill>
                  <a:srgbClr val="5B6B80"/>
                </a:solidFill>
                <a:latin typeface="Segoe UI"/>
              </a:rPr>
              <a:t> 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4202E"/>
                </a:solidFill>
                <a:latin typeface="Segoe UI"/>
              </a:rPr>
              <a:t>Attachments</a:t>
            </a:r>
          </a:p>
          <a:p>
            <a:pPr>
              <a:spcAft>
                <a:spcPts val="1000"/>
              </a:spcAft>
            </a:pPr>
            <a:r>
              <a:rPr sz="1050" b="0">
                <a:solidFill>
                  <a:srgbClr val="14202E"/>
                </a:solidFill>
                <a:latin typeface="Segoe UI"/>
              </a:rPr>
              <a:t>"Based on my resume, what are my
strengths - and what gaps should I fix?"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5B6B80"/>
                </a:solidFill>
                <a:latin typeface="Consolas"/>
              </a:rPr>
              <a:t>-&gt; AI PC tier, image/PDF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112264"/>
            <a:ext cx="813816" cy="274320"/>
          </a:xfrm>
          <a:prstGeom prst="roundRect">
            <a:avLst>
              <a:gd name="adj" fmla="val 50000"/>
            </a:avLst>
          </a:prstGeom>
          <a:solidFill>
            <a:srgbClr val="E3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900" b="1">
                <a:solidFill>
                  <a:srgbClr val="007CC0"/>
                </a:solidFill>
                <a:latin typeface="Consolas"/>
              </a:rPr>
              <a:t>LAPTOP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1965960"/>
            <a:ext cx="2670048" cy="3566160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200"/>
              </a:spcAft>
            </a:pPr>
            <a:r>
              <a:rPr sz="400" b="0">
                <a:solidFill>
                  <a:srgbClr val="5B6B80"/>
                </a:solidFill>
                <a:latin typeface="Segoe UI"/>
              </a:rPr>
              <a:t> </a:t>
            </a:r>
          </a:p>
          <a:p>
            <a:pPr>
              <a:spcAft>
                <a:spcPts val="200"/>
              </a:spcAft>
            </a:pPr>
            <a:r>
              <a:rPr sz="400" b="0">
                <a:solidFill>
                  <a:srgbClr val="5B6B80"/>
                </a:solidFill>
                <a:latin typeface="Segoe UI"/>
              </a:rPr>
              <a:t> 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4202E"/>
                </a:solidFill>
                <a:latin typeface="Segoe UI"/>
              </a:rPr>
              <a:t>Advanced reasoning</a:t>
            </a:r>
          </a:p>
          <a:p>
            <a:pPr>
              <a:spcAft>
                <a:spcPts val="1000"/>
              </a:spcAft>
            </a:pPr>
            <a:r>
              <a:rPr sz="1050" b="0">
                <a:solidFill>
                  <a:srgbClr val="14202E"/>
                </a:solidFill>
                <a:latin typeface="Segoe UI"/>
              </a:rPr>
              <a:t>"If AI can do most white-collar work,
which industries change most?"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5B6B80"/>
                </a:solidFill>
                <a:latin typeface="Consolas"/>
              </a:rPr>
              <a:t>-&gt; escalated, difficulty above threshold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19088" y="2112264"/>
            <a:ext cx="731519" cy="274320"/>
          </a:xfrm>
          <a:prstGeom prst="roundRect">
            <a:avLst>
              <a:gd name="adj" fmla="val 50000"/>
            </a:avLst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900" b="1">
                <a:solidFill>
                  <a:srgbClr val="B8790A"/>
                </a:solidFill>
                <a:latin typeface="Consolas"/>
              </a:rPr>
              <a:t>CLOUD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07424" y="1965960"/>
            <a:ext cx="2670048" cy="3566160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200"/>
              </a:spcAft>
            </a:pPr>
            <a:r>
              <a:rPr sz="400" b="0">
                <a:solidFill>
                  <a:srgbClr val="5B6B80"/>
                </a:solidFill>
                <a:latin typeface="Segoe UI"/>
              </a:rPr>
              <a:t> </a:t>
            </a:r>
          </a:p>
          <a:p>
            <a:pPr>
              <a:spcAft>
                <a:spcPts val="200"/>
              </a:spcAft>
            </a:pPr>
            <a:r>
              <a:rPr sz="400" b="0">
                <a:solidFill>
                  <a:srgbClr val="5B6B80"/>
                </a:solidFill>
                <a:latin typeface="Segoe UI"/>
              </a:rPr>
              <a:t> 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4202E"/>
                </a:solidFill>
                <a:latin typeface="Segoe UI"/>
              </a:rPr>
              <a:t>PII-bearing</a:t>
            </a:r>
          </a:p>
          <a:p>
            <a:pPr>
              <a:spcAft>
                <a:spcPts val="1000"/>
              </a:spcAft>
            </a:pPr>
            <a:r>
              <a:rPr sz="1050" b="0">
                <a:solidFill>
                  <a:srgbClr val="14202E"/>
                </a:solidFill>
                <a:latin typeface="Segoe UI"/>
              </a:rPr>
              <a:t>"My name is Sarah Thompson, DOB
3/14/1982, MRN 556281 - summarize..."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5B6B80"/>
                </a:solidFill>
                <a:latin typeface="Consolas"/>
              </a:rPr>
              <a:t>-&gt; masked before escalation, rehydrated on return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72016" y="2112264"/>
            <a:ext cx="1554479" cy="274320"/>
          </a:xfrm>
          <a:prstGeom prst="roundRect">
            <a:avLst>
              <a:gd name="adj" fmla="val 50000"/>
            </a:avLst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900" b="1">
                <a:solidFill>
                  <a:srgbClr val="B8790A"/>
                </a:solidFill>
                <a:latin typeface="Consolas"/>
              </a:rPr>
              <a:t>CLOUD + PRIVACY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607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7CC0"/>
                </a:solidFill>
                <a:latin typeface="Consolas"/>
              </a:rPr>
              <a:t>—  </a:t>
            </a:r>
            <a:r>
              <a:rPr b="1" sz="1300">
                <a:solidFill>
                  <a:srgbClr val="14202E"/>
                </a:solidFill>
                <a:latin typeface="Segoe UI"/>
              </a:rPr>
              <a:t>Phone and laptop routes stay local by default — </a:t>
            </a:r>
            <a:r>
              <a:rPr sz="1300">
                <a:solidFill>
                  <a:srgbClr val="14202E"/>
                </a:solidFill>
                <a:latin typeface="Segoe UI"/>
              </a:rPr>
              <a:t>they're fast because nothing leaves the device.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7CC0"/>
                </a:solidFill>
                <a:latin typeface="Consolas"/>
              </a:rPr>
              <a:t>—  </a:t>
            </a:r>
            <a:r>
              <a:rPr b="1" sz="1300">
                <a:solidFill>
                  <a:srgbClr val="14202E"/>
                </a:solidFill>
                <a:latin typeface="Segoe UI"/>
              </a:rPr>
              <a:t>The privacy route is the same router, same policy — </a:t>
            </a:r>
            <a:r>
              <a:rPr sz="1300">
                <a:solidFill>
                  <a:srgbClr val="14202E"/>
                </a:solidFill>
                <a:latin typeface="Segoe UI"/>
              </a:rPr>
              <a:t>PII changes what's sent, never what's answered.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80"/>
                </a:solidFill>
                <a:latin typeface="Consolas"/>
              </a:rPr>
              <a:t>TWO-BRAIN LLM  ·  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B6B80"/>
                </a:solidFill>
                <a:latin typeface="Consolas"/>
              </a:rPr>
              <a:t>HOW IT DECIDES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4202E"/>
                </a:solidFill>
                <a:latin typeface="Consolas"/>
              </a:rPr>
              <a:t>Not every brain can grade its own homework.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B6B80"/>
                </a:solidFill>
                <a:latin typeface="Segoe UI"/>
              </a:rPr>
              <a:t>Three contracts, so the router knows how much to trust each tier's opinion of itself.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007CC0"/>
                </a:solidFill>
                <a:latin typeface="Consolas"/>
              </a:rPr>
              <a:t>A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4202E"/>
                </a:solidFill>
                <a:latin typeface="Segoe UI"/>
              </a:rPr>
              <a:t>Silent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5B6B80"/>
                </a:solidFill>
                <a:latin typeface="Segoe UI"/>
              </a:rPr>
              <a:t>No self-report. Router scores difficulty from surface features alone.</a:t>
            </a:r>
          </a:p>
          <a:p>
            <a:pPr>
              <a:spcAft>
                <a:spcPts val="0"/>
              </a:spcAft>
            </a:pPr>
            <a:r>
              <a:rPr sz="950" b="0">
                <a:solidFill>
                  <a:srgbClr val="5B6B80"/>
                </a:solidFill>
                <a:latin typeface="Consolas"/>
              </a:rPr>
              <a:t>stub brains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19456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007CC0"/>
                </a:solidFill>
                <a:latin typeface="Consolas"/>
              </a:rPr>
              <a:t>B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4202E"/>
                </a:solidFill>
                <a:latin typeface="Segoe UI"/>
              </a:rPr>
              <a:t>Self-rates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5B6B80"/>
                </a:solidFill>
                <a:latin typeface="Segoe UI"/>
              </a:rPr>
              <a:t>Reports its own confidence. Router inverts it into a difficulty score.</a:t>
            </a:r>
          </a:p>
          <a:p>
            <a:pPr>
              <a:spcAft>
                <a:spcPts val="0"/>
              </a:spcAft>
            </a:pPr>
            <a:r>
              <a:rPr sz="950" b="0">
                <a:solidFill>
                  <a:srgbClr val="5B6B80"/>
                </a:solidFill>
                <a:latin typeface="Consolas"/>
              </a:rPr>
              <a:t>PhoneFastBrain · Mobile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19456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007CC0"/>
                </a:solidFill>
                <a:latin typeface="Consolas"/>
              </a:rPr>
              <a:t>C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4202E"/>
                </a:solidFill>
                <a:latin typeface="Segoe UI"/>
              </a:rPr>
              <a:t>Self-rates + names gaps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5B6B80"/>
                </a:solidFill>
                <a:latin typeface="Segoe UI"/>
              </a:rPr>
              <a:t>Reports confidence and what it's unsure about - the richest signal.</a:t>
            </a:r>
          </a:p>
          <a:p>
            <a:pPr>
              <a:spcAft>
                <a:spcPts val="0"/>
              </a:spcAft>
            </a:pPr>
            <a:r>
              <a:rPr sz="950" b="0">
                <a:solidFill>
                  <a:srgbClr val="5B6B80"/>
                </a:solidFill>
                <a:latin typeface="Consolas"/>
              </a:rPr>
              <a:t>NpuFastBrain / GpuLocalBrain · AI 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7CC0"/>
                </a:solidFill>
                <a:latin typeface="Consolas"/>
              </a:rPr>
              <a:t>—  </a:t>
            </a:r>
            <a:r>
              <a:rPr b="1" sz="1300">
                <a:solidFill>
                  <a:srgbClr val="14202E"/>
                </a:solidFill>
                <a:latin typeface="Segoe UI"/>
              </a:rPr>
              <a:t>A brain that knows it's unsure escalates itself — </a:t>
            </a:r>
            <a:r>
              <a:rPr sz="1300">
                <a:solidFill>
                  <a:srgbClr val="14202E"/>
                </a:solidFill>
                <a:latin typeface="Segoe UI"/>
              </a:rPr>
              <a:t>the router doesn't have to guess from keywords alone.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7CC0"/>
                </a:solidFill>
                <a:latin typeface="Consolas"/>
              </a:rPr>
              <a:t>—  </a:t>
            </a:r>
            <a:r>
              <a:rPr b="1" sz="1300">
                <a:solidFill>
                  <a:srgbClr val="14202E"/>
                </a:solidFill>
                <a:latin typeface="Segoe UI"/>
              </a:rPr>
              <a:t>Escalation logic (policy.py) is pure and unit-tested — </a:t>
            </a:r>
            <a:r>
              <a:rPr sz="1300">
                <a:solidFill>
                  <a:srgbClr val="14202E"/>
                </a:solidFill>
                <a:latin typeface="Segoe UI"/>
              </a:rPr>
              <a:t>no I/O, no brain calls, just rules.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80"/>
                </a:solidFill>
                <a:latin typeface="Consolas"/>
              </a:rPr>
              <a:t>TWO-BRAIN LLM  ·  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B6B80"/>
                </a:solidFill>
                <a:latin typeface="Consolas"/>
              </a:rPr>
              <a:t>PROOF, NOT PROMISES  ·  RESULTS PENDING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4202E"/>
                </a:solidFill>
                <a:latin typeface="Consolas"/>
              </a:rPr>
              <a:t>The numbers below are measured, not promised.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B6B80"/>
                </a:solidFill>
                <a:latin typeface="Segoe UI"/>
              </a:rPr>
              <a:t>Fields left blank on purpose — fill in after each run. The rule stays: a labeled TBD is fine, a fabricated number never is.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48840"/>
          <a:ext cx="85953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828800"/>
                <a:gridCol w="2560320"/>
              </a:tblGrid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onsolas"/>
                        </a:rPr>
                        <a:t>METRIC</a:t>
                      </a:r>
                    </a:p>
                  </a:txBody>
                  <a:tcPr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onsolas"/>
                        </a:rPr>
                        <a:t>VALUE</a:t>
                      </a:r>
                    </a:p>
                  </a:txBody>
                  <a:tcPr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onsolas"/>
                        </a:rPr>
                        <a:t>NOTES</a:t>
                      </a:r>
                    </a:p>
                  </a:txBody>
                  <a:tcPr>
                    <a:solidFill>
                      <a:srgbClr val="14202E"/>
                    </a:solidFill>
                  </a:tcPr>
                </a:tc>
              </a:tr>
              <a:tr h="462280"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14202E"/>
                          </a:solidFill>
                          <a:latin typeface="Segoe UI"/>
                        </a:rPr>
                        <a:t>NPU throughput (Phi-3.5-mini, Hexagon)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1">
                          <a:solidFill>
                            <a:srgbClr val="A6B0BD"/>
                          </a:solidFill>
                          <a:latin typeface="Consolas"/>
                        </a:rPr>
                        <a:t>TBD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14202E"/>
                          </a:solidFill>
                          <a:latin typeface="Consolas"/>
                        </a:rPr>
                        <a:t>tok/s, ms/token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462280"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14202E"/>
                          </a:solidFill>
                          <a:latin typeface="Segoe UI"/>
                        </a:rPr>
                        <a:t>GPU layers offloaded (Qwen3-VL, Adreno)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1">
                          <a:solidFill>
                            <a:srgbClr val="A6B0BD"/>
                          </a:solidFill>
                          <a:latin typeface="Consolas"/>
                        </a:rPr>
                        <a:t>TBD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14202E"/>
                          </a:solidFill>
                          <a:latin typeface="Consolas"/>
                        </a:rPr>
                        <a:t>e.g. 37/37 + vision 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14202E"/>
                          </a:solidFill>
                          <a:latin typeface="Segoe UI"/>
                        </a:rPr>
                        <a:t>Eval run — total queries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1">
                          <a:solidFill>
                            <a:srgbClr val="A6B0BD"/>
                          </a:solidFill>
                          <a:latin typeface="Consolas"/>
                        </a:rPr>
                        <a:t>TBD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14202E"/>
                          </a:solidFill>
                          <a:latin typeface="Consolas"/>
                        </a:rPr>
                        <a:t>evaluation/benchmark.py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462280"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14202E"/>
                          </a:solidFill>
                          <a:latin typeface="Segoe UI"/>
                        </a:rPr>
                        <a:t>Eval run — local vs. cloud 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1">
                          <a:solidFill>
                            <a:srgbClr val="A6B0BD"/>
                          </a:solidFill>
                          <a:latin typeface="Consolas"/>
                        </a:rPr>
                        <a:t>TBD / TBD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14202E"/>
                          </a:solidFill>
                          <a:latin typeface="Consolas"/>
                        </a:rPr>
                        <a:t>count routed each tier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14202E"/>
                          </a:solidFill>
                          <a:latin typeface="Segoe UI"/>
                        </a:rPr>
                        <a:t>Average latency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1">
                          <a:solidFill>
                            <a:srgbClr val="A6B0BD"/>
                          </a:solidFill>
                          <a:latin typeface="Consolas"/>
                        </a:rPr>
                        <a:t>TBD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14202E"/>
                          </a:solidFill>
                          <a:latin typeface="Consolas"/>
                        </a:rPr>
                        <a:t>ms, across the run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462280"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14202E"/>
                          </a:solidFill>
                          <a:latin typeface="Segoe UI"/>
                        </a:rPr>
                        <a:t>Average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1">
                          <a:solidFill>
                            <a:srgbClr val="A6B0BD"/>
                          </a:solidFill>
                          <a:latin typeface="Consolas"/>
                        </a:rPr>
                        <a:t>TBD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14202E"/>
                          </a:solidFill>
                          <a:latin typeface="Consolas"/>
                        </a:rPr>
                        <a:t>$ per query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14202E"/>
                          </a:solidFill>
                          <a:latin typeface="Segoe UI"/>
                        </a:rPr>
                        <a:t>PII entities masked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1">
                          <a:solidFill>
                            <a:srgbClr val="A6B0BD"/>
                          </a:solidFill>
                          <a:latin typeface="Consolas"/>
                        </a:rPr>
                        <a:t>TBD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14202E"/>
                          </a:solidFill>
                          <a:latin typeface="Consolas"/>
                        </a:rPr>
                        <a:t>count, this run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462280"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14202E"/>
                          </a:solidFill>
                          <a:latin typeface="Segoe UI"/>
                        </a:rPr>
                        <a:t>PII entities correctly rehydrated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1">
                          <a:solidFill>
                            <a:srgbClr val="A6B0BD"/>
                          </a:solidFill>
                          <a:latin typeface="Consolas"/>
                        </a:rPr>
                        <a:t>TBD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14202E"/>
                          </a:solidFill>
                          <a:latin typeface="Consolas"/>
                        </a:rPr>
                        <a:t>should equal masked 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80"/>
                </a:solidFill>
                <a:latin typeface="Consolas"/>
              </a:rPr>
              <a:t>TWO-BRAIN LLM  ·  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B6B80"/>
                </a:solidFill>
                <a:latin typeface="Consolas"/>
              </a:rPr>
              <a:t>THE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4202E"/>
                </a:solidFill>
                <a:latin typeface="Consolas"/>
              </a:rPr>
              <a:t>You can see which brain answered
before you read a word.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6492240" cy="3931920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1000"/>
              </a:spcAft>
            </a:pPr>
            <a:r>
              <a:rPr sz="1000" b="0">
                <a:solidFill>
                  <a:srgbClr val="5B6B80"/>
                </a:solidFill>
                <a:latin typeface="Consolas"/>
              </a:rPr>
              <a:t>● live — routing as pc_3b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2606040"/>
            <a:ext cx="2926080" cy="777240"/>
          </a:xfrm>
          <a:prstGeom prst="roundRect">
            <a:avLst>
              <a:gd name="adj" fmla="val 6000"/>
            </a:avLst>
          </a:prstGeom>
          <a:solidFill>
            <a:srgbClr val="E3F1FA"/>
          </a:solidFill>
          <a:ln w="9525">
            <a:solidFill>
              <a:srgbClr val="007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300"/>
              </a:spcAft>
            </a:pPr>
            <a:r>
              <a:rPr sz="850" b="1">
                <a:solidFill>
                  <a:srgbClr val="007CC0"/>
                </a:solidFill>
                <a:latin typeface="Consolas"/>
              </a:rPr>
              <a:t>USER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14202E"/>
                </a:solidFill>
                <a:latin typeface="Segoe UI"/>
              </a:rPr>
              <a:t>What is a binary search tree?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520440"/>
            <a:ext cx="3200400" cy="777240"/>
          </a:xfrm>
          <a:prstGeom prst="roundRect">
            <a:avLst>
              <a:gd name="adj" fmla="val 6000"/>
            </a:avLst>
          </a:prstGeom>
          <a:solidFill>
            <a:srgbClr val="E3F1FA"/>
          </a:solidFill>
          <a:ln w="9525">
            <a:solidFill>
              <a:srgbClr val="007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300"/>
              </a:spcAft>
            </a:pPr>
            <a:r>
              <a:rPr sz="850" b="1">
                <a:solidFill>
                  <a:srgbClr val="007CC0"/>
                </a:solidFill>
                <a:latin typeface="Consolas"/>
              </a:rPr>
              <a:t>● LOCAL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14202E"/>
                </a:solidFill>
                <a:latin typeface="Segoe UI"/>
              </a:rPr>
              <a:t>A BST is a binary tree where every left descendant is smaller...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4434840"/>
            <a:ext cx="2697480" cy="777240"/>
          </a:xfrm>
          <a:prstGeom prst="roundRect">
            <a:avLst>
              <a:gd name="adj" fmla="val 6000"/>
            </a:avLst>
          </a:prstGeom>
          <a:solidFill>
            <a:srgbClr val="FFF4D8"/>
          </a:solidFill>
          <a:ln w="9525">
            <a:solidFill>
              <a:srgbClr val="B879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300"/>
              </a:spcAft>
            </a:pPr>
            <a:r>
              <a:rPr sz="850" b="1">
                <a:solidFill>
                  <a:srgbClr val="B8790A"/>
                </a:solidFill>
                <a:latin typeface="Consolas"/>
              </a:rPr>
              <a:t>USER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14202E"/>
                </a:solidFill>
                <a:latin typeface="Segoe UI"/>
              </a:rPr>
              <a:t>Design a fault-tolerant distributed
storage system...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394960"/>
            <a:ext cx="4023360" cy="777240"/>
          </a:xfrm>
          <a:prstGeom prst="roundRect">
            <a:avLst>
              <a:gd name="adj" fmla="val 6000"/>
            </a:avLst>
          </a:prstGeom>
          <a:solidFill>
            <a:srgbClr val="FFF4D8"/>
          </a:solidFill>
          <a:ln w="9525">
            <a:solidFill>
              <a:srgbClr val="B879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300"/>
              </a:spcAft>
            </a:pPr>
            <a:r>
              <a:rPr sz="850" b="1">
                <a:solidFill>
                  <a:srgbClr val="B8790A"/>
                </a:solidFill>
                <a:latin typeface="Consolas"/>
              </a:rPr>
              <a:t>● CLOUD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14202E"/>
                </a:solidFill>
                <a:latin typeface="Segoe UI"/>
              </a:rPr>
              <a:t>Escalated: difficulty 0.71 above threshold. Design starting from a replicated log...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148840"/>
            <a:ext cx="4343400" cy="2926080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1000"/>
              </a:spcAft>
            </a:pPr>
            <a:r>
              <a:rPr sz="1000" b="1">
                <a:solidFill>
                  <a:srgbClr val="5B6B80"/>
                </a:solidFill>
                <a:latin typeface="Consolas"/>
              </a:rPr>
              <a:t>QUERY PROFILER</a:t>
            </a:r>
          </a:p>
          <a:p>
            <a:pPr>
              <a:spcAft>
                <a:spcPts val="700"/>
              </a:spcAft>
            </a:pPr>
            <a:r>
              <a:rPr sz="1050" b="0">
                <a:solidFill>
                  <a:srgbClr val="14202E"/>
                </a:solidFill>
                <a:latin typeface="Consolas"/>
              </a:rPr>
              <a:t>difficulty:  0.71 / 0.55 threshold</a:t>
            </a:r>
          </a:p>
          <a:p>
            <a:pPr>
              <a:spcAft>
                <a:spcPts val="700"/>
              </a:spcAft>
            </a:pPr>
            <a:r>
              <a:rPr sz="1050" b="0">
                <a:solidFill>
                  <a:srgbClr val="14202E"/>
                </a:solidFill>
                <a:latin typeface="Consolas"/>
              </a:rPr>
              <a:t>PII detected:  0 entities</a:t>
            </a:r>
          </a:p>
          <a:p>
            <a:pPr>
              <a:spcAft>
                <a:spcPts val="700"/>
              </a:spcAft>
            </a:pPr>
            <a:r>
              <a:rPr sz="1050" b="0">
                <a:solidFill>
                  <a:srgbClr val="14202E"/>
                </a:solidFill>
                <a:latin typeface="Consolas"/>
              </a:rPr>
              <a:t>est. latency:  1,479 ms</a:t>
            </a:r>
          </a:p>
          <a:p>
            <a:pPr>
              <a:spcAft>
                <a:spcPts val="700"/>
              </a:spcAft>
            </a:pPr>
            <a:r>
              <a:rPr sz="1050" b="0">
                <a:solidFill>
                  <a:srgbClr val="14202E"/>
                </a:solidFill>
                <a:latin typeface="Consolas"/>
              </a:rPr>
              <a:t>est. cost:  $0.00004</a:t>
            </a:r>
          </a:p>
          <a:p>
            <a:pPr>
              <a:spcAft>
                <a:spcPts val="700"/>
              </a:spcAft>
            </a:pPr>
            <a:r>
              <a:rPr sz="1050" b="0">
                <a:solidFill>
                  <a:srgbClr val="14202E"/>
                </a:solidFill>
                <a:latin typeface="Consolas"/>
              </a:rPr>
              <a:t>tier:  cloud:ai100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5257800"/>
            <a:ext cx="4206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7CC0"/>
                </a:solidFill>
                <a:latin typeface="Consolas"/>
              </a:rPr>
              <a:t>—  </a:t>
            </a:r>
            <a:r>
              <a:rPr b="1" sz="1300">
                <a:solidFill>
                  <a:srgbClr val="14202E"/>
                </a:solidFill>
                <a:latin typeface="Segoe UI"/>
              </a:rPr>
              <a:t>The avatar's color is the router's real decision, live — </a:t>
            </a:r>
            <a:r>
              <a:rPr sz="1300">
                <a:solidFill>
                  <a:srgbClr val="14202E"/>
                </a:solidFill>
                <a:latin typeface="Segoe UI"/>
              </a:rPr>
              <a:t>blue answered on-device, gold escalated.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7CC0"/>
                </a:solidFill>
                <a:latin typeface="Consolas"/>
              </a:rPr>
              <a:t>—  </a:t>
            </a:r>
            <a:r>
              <a:rPr b="1" sz="1300">
                <a:solidFill>
                  <a:srgbClr val="14202E"/>
                </a:solidFill>
                <a:latin typeface="Segoe UI"/>
              </a:rPr>
              <a:t>If the API drops mid-demo, the UI falls back to an offline preview — </a:t>
            </a:r>
            <a:r>
              <a:rPr sz="1300">
                <a:solidFill>
                  <a:srgbClr val="14202E"/>
                </a:solidFill>
                <a:latin typeface="Segoe UI"/>
              </a:rPr>
              <a:t>labeled honestly, never silently.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80"/>
                </a:solidFill>
                <a:latin typeface="Consolas"/>
              </a:rPr>
              <a:t>TWO-BRAIN LLM  ·  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B6B80"/>
                </a:solidFill>
                <a:latin typeface="Consolas"/>
              </a:rPr>
              <a:t>STATUS &amp;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202E"/>
                </a:solidFill>
                <a:latin typeface="Consolas"/>
              </a:rPr>
              <a:t>Where the three tracks stand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225295" cy="274320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900" b="1">
                <a:solidFill>
                  <a:srgbClr val="1F8F5A"/>
                </a:solidFill>
                <a:latin typeface="Consolas"/>
              </a:rPr>
              <a:t>PHONE · GPU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664208"/>
            <a:ext cx="8778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4202E"/>
                </a:solidFill>
                <a:latin typeface="Segoe UI"/>
              </a:rPr>
              <a:t>Built and verified. llama.cpp cross-compiled for Adreno (Android arm64), Q4_0 GGUF of Llama-3.2-3B-Instruct on disk. One adb push to a physical S25 Ultra from done.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017520"/>
            <a:ext cx="11064240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" y="3200400"/>
            <a:ext cx="1225295" cy="274320"/>
          </a:xfrm>
          <a:prstGeom prst="roundRect">
            <a:avLst>
              <a:gd name="adj" fmla="val 50000"/>
            </a:avLst>
          </a:prstGeom>
          <a:solidFill>
            <a:srgbClr val="E3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900" b="1">
                <a:solidFill>
                  <a:srgbClr val="007CC0"/>
                </a:solidFill>
                <a:latin typeface="Consolas"/>
              </a:rPr>
              <a:t>PHONE · NPU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081528"/>
            <a:ext cx="8778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4202E"/>
                </a:solidFill>
                <a:latin typeface="Segoe UI"/>
              </a:rPr>
              <a:t>Quantization complete, cached. Genie/QNN export via AI Hub - the expensive local step is done; submitting the compile job to Qualcomm's cloud is what's left.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4434840"/>
            <a:ext cx="11064240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" y="4617720"/>
            <a:ext cx="1389888" cy="274320"/>
          </a:xfrm>
          <a:prstGeom prst="roundRect">
            <a:avLst>
              <a:gd name="adj" fmla="val 50000"/>
            </a:avLst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900" b="1">
                <a:solidFill>
                  <a:srgbClr val="B8790A"/>
                </a:solidFill>
                <a:latin typeface="Consolas"/>
              </a:rPr>
              <a:t>NEXT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4498848"/>
            <a:ext cx="8778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4202E"/>
                </a:solidFill>
                <a:latin typeface="Segoe UI"/>
              </a:rPr>
              <a:t>Attachment input (the laptop routes) isn't just plumbing - masking only understands text today, so an image with a face or a screen full of PII would cross the boundary untouched. A privacy design call, made before it's wired in.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5852160"/>
            <a:ext cx="11064240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6172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B6B80"/>
                </a:solidFill>
                <a:latin typeface="Consolas"/>
              </a:rPr>
              <a:t>Fast and private when it can be. Powerful when it has to be. The router - not the user - carries that decision.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80"/>
                </a:solidFill>
                <a:latin typeface="Consolas"/>
              </a:rPr>
              <a:t>TWO-BRAIN LLM  ·  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